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c25995a2945e8" /><Relationship Type="http://schemas.openxmlformats.org/officeDocument/2006/relationships/extended-properties" Target="/docProps/app.xml" Id="R370895a79c3640bf" /><Relationship Type="http://schemas.openxmlformats.org/officeDocument/2006/relationships/officeDocument" Target="/ppt/presentation.xml" Id="R5081cb29a9da47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4227cd393f4f34"/>
  </p:sldMasterIdLst>
  <p:notesMasterIdLst>
    <p:notesMasterId xmlns:r="http://schemas.openxmlformats.org/officeDocument/2006/relationships" r:id="R743d8250a0fc41a0"/>
  </p:notesMasterIdLst>
  <p:sldIdLst>
    <p:sldId xmlns:r="http://schemas.openxmlformats.org/officeDocument/2006/relationships" id="256" r:id="Rb73588a04e5c4a20"/>
    <p:sldId xmlns:r="http://schemas.openxmlformats.org/officeDocument/2006/relationships" id="257" r:id="Rd63cc21bb9e84e1e"/>
    <p:sldId xmlns:r="http://schemas.openxmlformats.org/officeDocument/2006/relationships" id="258" r:id="R5b84856024444558"/>
    <p:sldId xmlns:r="http://schemas.openxmlformats.org/officeDocument/2006/relationships" id="259" r:id="R9bb46c9b5f434bf8"/>
    <p:sldId xmlns:r="http://schemas.openxmlformats.org/officeDocument/2006/relationships" id="260" r:id="R505dd089791f4c8b"/>
    <p:sldId xmlns:r="http://schemas.openxmlformats.org/officeDocument/2006/relationships" id="261" r:id="Rcf7bcb760e724c39"/>
    <p:sldId xmlns:r="http://schemas.openxmlformats.org/officeDocument/2006/relationships" id="262" r:id="R8559badd58814442"/>
    <p:sldId xmlns:r="http://schemas.openxmlformats.org/officeDocument/2006/relationships" id="263" r:id="R7c8ec86117bc4923"/>
    <p:sldId xmlns:r="http://schemas.openxmlformats.org/officeDocument/2006/relationships" id="264" r:id="R8240c1b50cc4454c"/>
    <p:sldId xmlns:r="http://schemas.openxmlformats.org/officeDocument/2006/relationships" id="265" r:id="R7258e3b5baf64063"/>
    <p:sldId xmlns:r="http://schemas.openxmlformats.org/officeDocument/2006/relationships" id="266" r:id="Re2a5deebc3de477d"/>
    <p:sldId xmlns:r="http://schemas.openxmlformats.org/officeDocument/2006/relationships" id="267" r:id="Rf4d6d964e47240ea"/>
    <p:sldId xmlns:r="http://schemas.openxmlformats.org/officeDocument/2006/relationships" id="268" r:id="Rab66603bb32e4d06"/>
    <p:sldId xmlns:r="http://schemas.openxmlformats.org/officeDocument/2006/relationships" id="269" r:id="R26680e37fbec47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778c166d2a48f9" /><Relationship Type="http://schemas.openxmlformats.org/officeDocument/2006/relationships/slideMaster" Target="/ppt/slideMasters/slideMaster1.xml" Id="R704227cd393f4f34" /><Relationship Type="http://schemas.openxmlformats.org/officeDocument/2006/relationships/notesMaster" Target="/ppt/notesMasters/notesMaster1.xml" Id="R743d8250a0fc41a0" /><Relationship Type="http://schemas.openxmlformats.org/officeDocument/2006/relationships/presProps" Target="/ppt/presProps.xml" Id="Red9585cbf61a4bd3" /><Relationship Type="http://schemas.openxmlformats.org/officeDocument/2006/relationships/viewProps" Target="/ppt/viewProps.xml" Id="Rc264e45a84174045" /><Relationship Type="http://schemas.openxmlformats.org/officeDocument/2006/relationships/tableStyles" Target="/ppt/tableStyles.xml" Id="Rd2f6ee277e7b438c" /><Relationship Type="http://schemas.openxmlformats.org/officeDocument/2006/relationships/slide" Target="/ppt/slides/slide1.xml" Id="Rb73588a04e5c4a20" /><Relationship Type="http://schemas.openxmlformats.org/officeDocument/2006/relationships/slide" Target="/ppt/slides/slide2.xml" Id="Rd63cc21bb9e84e1e" /><Relationship Type="http://schemas.openxmlformats.org/officeDocument/2006/relationships/slide" Target="/ppt/slides/slide3.xml" Id="R5b84856024444558" /><Relationship Type="http://schemas.openxmlformats.org/officeDocument/2006/relationships/slide" Target="/ppt/slides/slide4.xml" Id="R9bb46c9b5f434bf8" /><Relationship Type="http://schemas.openxmlformats.org/officeDocument/2006/relationships/slide" Target="/ppt/slides/slide5.xml" Id="R505dd089791f4c8b" /><Relationship Type="http://schemas.openxmlformats.org/officeDocument/2006/relationships/slide" Target="/ppt/slides/slide6.xml" Id="Rcf7bcb760e724c39" /><Relationship Type="http://schemas.openxmlformats.org/officeDocument/2006/relationships/slide" Target="/ppt/slides/slide7.xml" Id="R8559badd58814442" /><Relationship Type="http://schemas.openxmlformats.org/officeDocument/2006/relationships/slide" Target="/ppt/slides/slide8.xml" Id="R7c8ec86117bc4923" /><Relationship Type="http://schemas.openxmlformats.org/officeDocument/2006/relationships/slide" Target="/ppt/slides/slide9.xml" Id="R8240c1b50cc4454c" /><Relationship Type="http://schemas.openxmlformats.org/officeDocument/2006/relationships/slide" Target="/ppt/slides/slide10.xml" Id="R7258e3b5baf64063" /><Relationship Type="http://schemas.openxmlformats.org/officeDocument/2006/relationships/slide" Target="/ppt/slides/slide11.xml" Id="Re2a5deebc3de477d" /><Relationship Type="http://schemas.openxmlformats.org/officeDocument/2006/relationships/slide" Target="/ppt/slides/slide12.xml" Id="Rf4d6d964e47240ea" /><Relationship Type="http://schemas.openxmlformats.org/officeDocument/2006/relationships/slide" Target="/ppt/slides/slide13.xml" Id="Rab66603bb32e4d06" /><Relationship Type="http://schemas.openxmlformats.org/officeDocument/2006/relationships/slide" Target="/ppt/slides/slide14.xml" Id="R26680e37fbec47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8c5c25abfc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a8856447b94824" /><Relationship Type="http://schemas.openxmlformats.org/officeDocument/2006/relationships/notesMaster" Target="/ppt/notesMasters/notesMaster1.xml" Id="Rb9726df5b7c643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ce9bf7248f43b1" /><Relationship Type="http://schemas.openxmlformats.org/officeDocument/2006/relationships/notesMaster" Target="/ppt/notesMasters/notesMaster1.xml" Id="Rceb6b30791d849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1c1c4b3a484950" /><Relationship Type="http://schemas.openxmlformats.org/officeDocument/2006/relationships/notesMaster" Target="/ppt/notesMasters/notesMaster1.xml" Id="R4bd3be0eb2804b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2d04a662474a3f" /><Relationship Type="http://schemas.openxmlformats.org/officeDocument/2006/relationships/notesMaster" Target="/ppt/notesMasters/notesMaster1.xml" Id="Refd45e3d557944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878bab28374b8e" /><Relationship Type="http://schemas.openxmlformats.org/officeDocument/2006/relationships/notesMaster" Target="/ppt/notesMasters/notesMaster1.xml" Id="Rbdd3b216743e40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3ae36341ea4439" /><Relationship Type="http://schemas.openxmlformats.org/officeDocument/2006/relationships/notesMaster" Target="/ppt/notesMasters/notesMaster1.xml" Id="Re2f9bbea180249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3bd8101f2046e9" /><Relationship Type="http://schemas.openxmlformats.org/officeDocument/2006/relationships/notesMaster" Target="/ppt/notesMasters/notesMaster1.xml" Id="R1b8507ad48f548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7ef2e81c4d4b7a" /><Relationship Type="http://schemas.openxmlformats.org/officeDocument/2006/relationships/notesMaster" Target="/ppt/notesMasters/notesMaster1.xml" Id="R527f631f80c74f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e5d8f1c5044051" /><Relationship Type="http://schemas.openxmlformats.org/officeDocument/2006/relationships/notesMaster" Target="/ppt/notesMasters/notesMaster1.xml" Id="R7998dd529b2d41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ed4b2d49ec47f2" /><Relationship Type="http://schemas.openxmlformats.org/officeDocument/2006/relationships/notesMaster" Target="/ppt/notesMasters/notesMaster1.xml" Id="R58040e25929b4c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370343ac39418e" /><Relationship Type="http://schemas.openxmlformats.org/officeDocument/2006/relationships/notesMaster" Target="/ppt/notesMasters/notesMaster1.xml" Id="Rca30052a65b640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a26ed6ab2c4550" /><Relationship Type="http://schemas.openxmlformats.org/officeDocument/2006/relationships/notesMaster" Target="/ppt/notesMasters/notesMaster1.xml" Id="R026c9aa4702c4c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05ac09815c445a" /><Relationship Type="http://schemas.openxmlformats.org/officeDocument/2006/relationships/notesMaster" Target="/ppt/notesMasters/notesMaster1.xml" Id="R177bd301bbe24a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25f61088c3442c" /><Relationship Type="http://schemas.openxmlformats.org/officeDocument/2006/relationships/notesMaster" Target="/ppt/notesMasters/notesMaster1.xml" Id="R464cb212bc44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5120cd4a746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a2e464aa4d480d" /><Relationship Type="http://schemas.openxmlformats.org/officeDocument/2006/relationships/slideLayout" Target="/ppt/slideLayouts/slideLayout1.xml" Id="Rcd4a6f03c2744d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4a6f03c2744d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3dd58d2fe4807" /><Relationship Type="http://schemas.openxmlformats.org/officeDocument/2006/relationships/notesSlide" Target="/ppt/notesSlides/notesSlide1.xml" Id="R26ebcce6af7642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f6479de80451d" /><Relationship Type="http://schemas.openxmlformats.org/officeDocument/2006/relationships/notesSlide" Target="/ppt/notesSlides/notesSlide2.xml" Id="R31cc91eef4ed4a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caec284254e50" /><Relationship Type="http://schemas.openxmlformats.org/officeDocument/2006/relationships/notesSlide" Target="/ppt/notesSlides/notesSlide3.xml" Id="R032a151c64d849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8726330ed43ff" /><Relationship Type="http://schemas.openxmlformats.org/officeDocument/2006/relationships/notesSlide" Target="/ppt/notesSlides/notesSlide4.xml" Id="R51d478bcd5b44a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a4ee4186e4c67" /><Relationship Type="http://schemas.openxmlformats.org/officeDocument/2006/relationships/notesSlide" Target="/ppt/notesSlides/notesSlide5.xml" Id="Rf96ec939379d41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15f313c684907" /><Relationship Type="http://schemas.openxmlformats.org/officeDocument/2006/relationships/notesSlide" Target="/ppt/notesSlides/notesSlide6.xml" Id="Rea3d075cb44d4f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ad99080dc4343" /><Relationship Type="http://schemas.openxmlformats.org/officeDocument/2006/relationships/notesSlide" Target="/ppt/notesSlides/notesSlide7.xml" Id="R2ed51921e43e4b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fc5ddc861498a" /><Relationship Type="http://schemas.openxmlformats.org/officeDocument/2006/relationships/notesSlide" Target="/ppt/notesSlides/notesSlide8.xml" Id="Re65fa4e11c3946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fdf6b6593440f" /><Relationship Type="http://schemas.openxmlformats.org/officeDocument/2006/relationships/notesSlide" Target="/ppt/notesSlides/notesSlide9.xml" Id="R346aa646325345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a49a33a914d1f" /><Relationship Type="http://schemas.openxmlformats.org/officeDocument/2006/relationships/notesSlide" Target="/ppt/notesSlides/notesSlide10.xml" Id="R6ef44807b7ac4c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86daa995346b4" /><Relationship Type="http://schemas.openxmlformats.org/officeDocument/2006/relationships/notesSlide" Target="/ppt/notesSlides/notesSlide11.xml" Id="R448dd942a2c44a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14e314e1149b8" /><Relationship Type="http://schemas.openxmlformats.org/officeDocument/2006/relationships/notesSlide" Target="/ppt/notesSlides/notesSlide12.xml" Id="Re2285bb9f57b4d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1c1d2d0a14cb2" /><Relationship Type="http://schemas.openxmlformats.org/officeDocument/2006/relationships/notesSlide" Target="/ppt/notesSlides/notesSlide13.xml" Id="R7f76ea283ded4e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765d0b1054e3a" /><Relationship Type="http://schemas.openxmlformats.org/officeDocument/2006/relationships/notesSlide" Target="/ppt/notesSlides/notesSlide14.xml" Id="Rf9d253bde6834a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125DFA-184E-4961-98AF-7BC95F40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PhysFormer 实验路径汇报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F4AB8-1C80-4BEA-B4EB-1F2ED537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71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从物理先验到组件 token 分离：一次以实验结果重写方法假设的路线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010B7-A9DD-414D-9524-66726468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汇报对象：VPP aggregated net-power forecasting</a:t>
            </a:r>
          </a:p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主线：物理一致性、aggregate 精度、泛化机制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9EE1D-ABEC-4A86-9EB1-9591C3E2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38200"/>
            <a:ext cx="342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11BF8-2A0C-4CB1-A901-501CB997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743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Pnet(t) = Pload(t) - Ppv(t) - Pwind(t) + Pbatt(t)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33482-5967-469E-BB8D-AF4F629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80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A1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7726C-5516-459A-9A17-9F000085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当前最强 aggregate 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EA9B5-20EA-47D1-B761-B628D798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8A199-2E92-400F-8A31-CE73E3B4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解释 component-aggregate 悖论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1618D-CEE0-4F73-859D-4A9ABA41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3375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002EA-FCB1-40AD-AF4E-6375A31D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14750"/>
            <a:ext cx="904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固定物理先验被证伪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A29F7-3AC3-45D6-814B-AF3E2E27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78189-C121-4C2E-8376-7FA9930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ara/PAPER.md; ara/logic/claims.md; local results/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DF1EA-114D-4CE4-A4F0-79D84EED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19877257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089B0D-D82C-4F5D-B82C-1F6A2934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EXECUTIVE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CA508-6821-4B40-9528-375D7C3F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最终结论：泛化收益来自表示边界，而不是更强固定物理先验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356E8-28D0-43B4-BA20-9F37F3A2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8DD5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7EFC9-06D1-467F-A3A5-F4BBC7B9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86E42-21E1-48A9-81EE-2C82976B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4552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早期 PhysFormer 证明了物理分支能改善 theory deviation，但同时暴露 aggregate 与 component consistency 的 Pareto trade-off。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DE7E1-3086-429E-B0A8-9F334184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AFC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C4E81-3732-4B63-A347-F88DCCD0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52C6D-2628-4C9A-B0B5-9A0B667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4552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C08/C10 把悖论落到机制：共享编码器会诱导可抵消的组件误差相关性；aggregate 变好不等于物理预测更好。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CC090-2D43-4BF7-A5F4-CB0F1E8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9BD7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81CAD-7416-4A5A-AD9F-D52E1BC2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67508-261A-40E4-9BC2-BA0C4264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552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A1 8-token inverted Transformer 去掉固定 physics prior，仅保留组件 token 分离，成为当前最优 aggregate 模型。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3A3A8-E414-4B0D-97A7-CCAE9B36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-12.5%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DB147-58A8-457E-BF95-FD63C510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A1 vs c23 MAE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3-seed mean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277DA-7D4F-4DC9-AA83-4BFFD978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20x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15A00-19A9-40D2-B160-A7793D9F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A1 cross-seed σ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小于 c23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4F259-65B2-4765-B96F-AEF95465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+7.5%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80F97-F4A4-46AB-BD8F-5E9F22A6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A5 vs A1 Test MAE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固定先验最强也最差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6A4E3-768D-4A86-913D-CB16D547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4171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3F209-47F9-4FEC-BCF9-2FAFDF17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57591-2C1F-4C64-A452-4475094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67150"/>
            <a:ext cx="386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汇报策略：把“做了什么”降级，把“哪些假设被实验排除”升级为主线。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DD7AD-2C73-4D38-99FE-CBBE45B9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9FDE3-B04D-4E59-825C-18941C9D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C08-C12 claims; docs/plans/2026-05-26; docs/plans/2026-05-29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BD88F-E7B7-4672-A2E1-6D0F0C29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18534047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2C689C-8C06-442E-B3A4-A91C78AE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RESEARCH TRAJECTORY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110BC-53EA-43FC-A8F0-69DADCE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整个项目不是线性优化，而是一组证据门控后的路线收缩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35B33-1895-43CA-9391-BB3F8D8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19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81588-B6E0-440F-B23C-9DE311A5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8196B-2FF5-46C7-AF25-CB3CC2F9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问题定义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E45BD-F53B-40A0-A7D9-89C0C9E7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异构 VPP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signed aggregate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40E49-36FF-4ED8-8FBC-367E8124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3FCEC-C5D4-4AC2-AFB1-BB5E5D5C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66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27A59-EA85-40DC-8EFB-737A3237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19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564F6-B955-4CF9-B7E6-FA9F4502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1450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9897A-3C42-4D75-887E-8087A138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66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PhysFormer c23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7CBD2-2071-4189-80FF-7E373C4E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336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FiLM + theory branch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shared encoder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E38F6-75B3-4057-AFBC-AB954C0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526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F342D-4AC5-45F6-BDBD-20E2A7D6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66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D95DE-A2FD-4565-B7A6-C242D3C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9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03079-E428-4C54-A649-69FE92FC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1450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69CC8-AB16-44DD-B198-419080FE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66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机制解释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C0C40-D41A-4211-83BD-E7953366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336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C08-C10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covariance / cancellation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1F33F-DCDD-4FB4-A0D2-4E39C2E9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526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6030E-825E-40BC-B073-08801335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66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6CA6E-B69F-4351-9C2E-DB5FBC58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619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09B1EB-0D58-4724-BF5B-7CAAF92F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AD485-147C-47CF-BA5F-4BA9333C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66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Phase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2F157-9F86-4206-A160-CCF4B9B5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336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A1 component-token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separation wins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85A29-5FD9-40C1-8764-4E0A14B4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526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0B422-43D2-4C7E-B528-A9E1449A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66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C1BF4-B9BB-4DE6-9C4C-B189C974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619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702745-C065-44E9-989E-4313B0D3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145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439F8F-3773-41AA-953C-77B04C39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66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Phase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2C4F3-67C8-4D50-B012-01CA1CA3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336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MCP pretrain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static finetune failed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22ED33-3813-4F7F-A993-3BBFD128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A5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5F007-C9B9-471D-BAF5-B8942D62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4BEE1-A757-49A6-9733-CC6429AB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红色 guardrails：N06 sigmoid gate；N07 strong component loss；N12 pure Phase-3 fine-tune；N113 high-LR net-MSE finetune。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C66FE3-CD06-4F78-AE1C-7D2FE6D3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8550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A4D9B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88BD6-6401-462C-9629-409BDCBC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85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540621-50A3-428C-9CF3-D226B716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71900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绿色/蓝色证据：C08 component-error covariance；C11 A1 胜出；C12 fixed physics priors overfit。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F73C49-CBB6-402E-AECD-013EF5F0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0125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B8B0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A11B14-DD63-4868-A2D5-AD89E1E7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01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6"/>
          </a:solidFill>
          <a:ln xmlns:a="http://schemas.openxmlformats.org/drawingml/2006/main" w="0">
            <a:solidFill>
              <a:srgbClr val="6D5D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E8A7A4-D913-4B2F-BD00-576540AC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43475"/>
            <a:ext cx="693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未关闭入口：Phase B 不再测试 static finetune，而转向 scaler repair / low-LR regularized finetune / target-portfolio few-shot adaptation gate。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70F621-7C10-43CB-AAC2-BEBACC3D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83C8BE-D6CC-4D21-9086-E16C887A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ara/trace/exploration_tree.yaml; ara/staging/observations.yaml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49A325-E9E9-41E2-AAD1-BAC0597F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12226597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AB044C-7CDA-4277-ACEC-CDF37D87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91B6F-1D71-4D1B-8D88-9A4E5492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评估契约：aggregate 指标必须和组件物理一致性分开读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0258C-7932-4CBD-9FC9-7AEE0498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4895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3F6E2-D3C8-4CC2-BE4F-2732AA09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423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Pnet = Load - PV - Wind + Battery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9633D-783D-474E-B90A-534CB9A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194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DCA61-8C7B-483F-AB19-6BC73504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575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调度价值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32841-CB7D-4799-A7EF-B9706D6C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194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6253E-0063-4E93-88B2-D0880691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物理归因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E3BCE-63B2-484C-A14E-D2F9160C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194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FF4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DFC89-A0F5-4829-859E-07975575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泛化风险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5BA61-89DC-4716-A26C-41C2B327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AFC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CF050-B3F1-481F-B66B-75B76066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455D4-85FF-4E25-B4F2-B6795F37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8590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Aggregate MAE / MSE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用于判断调度层预测是否可用。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459EF-E491-4365-AA55-B5D13900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9BD7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08EE0-BAA5-42B2-AC05-5339F7AA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CFDB9-576A-47B8-8184-2B04B68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9080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Theory / component MAE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用于判断物理分支是否真的在学组件。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B5E1A-31F8-439E-AFCD-4C5A1B9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2C77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742CB-7B3D-44CF-A92E-566CD294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6DB30-E1E5-4375-B820-89BFD471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9570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Val-Test divergence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用于判断先验或解码器是否在过拟合 portfolio。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011EA-75A9-4622-8CC0-3F0C2643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核心判断标准：不能只选 aggregate 最低的模型；要说明它是靠物理理解，还是靠 signed cancellation。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32274-4763-4FF1-9B13-60C048DA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86006-B9EC-41E1-9B1F-DCCE3CB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C08; docs/analysis/c08_variance_decomposition.md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93387-826A-43DE-9E4F-C627B49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20481758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DC4B2-C9E0-4552-8557-F8D7991B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EARLY PHYSFORMER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86ED0-1B71-49A8-9861-866F88E4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V3 到 V5：物理一致性改善是真实的，但 aggregate 代价也是真实的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55D14-ECAF-48B2-B77C-48563137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52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1D4ED8"/>
                </a:solidFill>
                <a:latin typeface="Aptos"/>
                <a:ea typeface="Aptos"/>
                <a:cs typeface="Aptos"/>
              </a:rPr>
              <a:t>Test MAE (kW)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80D15-A32A-4C80-8F4B-286F7BAA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Theory MAE (kW)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51306-E1C1-4CCF-ABDF-3F7B247A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4307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A4F7A-65BD-4F7C-AE45-DBA657B1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71650"/>
            <a:ext cx="143537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41884-49B0-4548-BBF9-435BDF1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1.932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0701E-37E6-4BE8-92E8-AEF29340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71650"/>
            <a:ext cx="157844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6C9E9-8895-4FF0-AAE7-1A19E4D7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4.874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7C004-991E-4732-9A53-091A4AE0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B737E-0107-45C7-B833-84C95A46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57450"/>
            <a:ext cx="146806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A04AA-A697-49BE-9594-35E3E6F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38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1.976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40243-0823-48B2-9D40-5D7ED908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57450"/>
            <a:ext cx="123419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ACA51-D1A2-47AD-A0A8-0E9AE761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3.811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C596E-0083-4DE9-BAA9-16808CF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V4.1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F8D09-7D7E-4068-9F19-54CEF154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148738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0C50B-08D3-4C4C-A266-7DF5C725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24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2.002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F0C4E-AB37-4C7E-B2F5-12BB0511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160823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DAF35-66D5-45DD-BA28-78FC41E9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24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4.966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79F69-22F7-4920-B6FC-D452FD13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V4.2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7959E-1F15-4DAC-A759-A51E6B5E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29050"/>
            <a:ext cx="152156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0D1BD-3510-4757-A8F9-658DBB31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2.048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0AEF5-C540-460B-8C71-AAEA4185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29050"/>
            <a:ext cx="96539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B671F-1A32-4CBB-9ED2-F67B3E92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2.981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3FFF19-0A28-4FA9-B497-D72E2F78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3B7A1E-DB3C-4C7F-B22B-DA335964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14850"/>
            <a:ext cx="157505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B9897-5FCC-473C-9ABD-E00BC542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95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A88C1-96A3-4BE6-B056-272F36D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14850"/>
            <a:ext cx="99551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6511A-DC20-4AA1-AEBB-B7EEE3A8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3.074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622131-26D1-428C-80FD-5689EDA8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8DD5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0FAC3-CA64-4E88-A323-55109632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4DC3C6-F558-41C5-A5A4-9FA7787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24050"/>
            <a:ext cx="2838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V4 是早期 Pareto knee：component_loss=0.05 让 Theory MAE -21.8%，Test MAE 只 +2.3%。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78D6BA-2D39-4090-932B-7BC573BD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2C77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F97796-C7DA-47B7-ABDA-66892406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38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765B63-285A-4670-8A4C-C5AF6AD6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24200"/>
            <a:ext cx="2838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V4.2/V5 继续降低 theory/component error，却把 aggregate 推差，说明“更物理”不是单调收益。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A2650D-94FD-4F82-912A-3A089A34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4EA864-56BF-441D-8B4E-35F921F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8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7DC99D-B4F3-4F33-8A8A-A03A422A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2838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这一步把论文问题从“加多少物理先验”改写成“怎么避免物理与 aggregate 目标互相污染”。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3F93A9-6204-4ACE-A65D-9E735BB4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3DB7AB-F3B9-4FBA-AC5A-AC0A2FE3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ara/evidence/tables/version_comparison.md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A05251-566D-4BA5-9D70-2E05B188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20019065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97A712-4027-48F2-9B04-2C3A4E0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COMPONENT-CONSISTENT RESIDUAL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6E4AF-047C-4045-B37E-F6867B9C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V5 组件一致性残差解决归因问题，但不能自动赢回 aggregate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24A82-6F61-47F1-B4C0-464F17C5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525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V4 scalar residual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1666D-9989-4844-97F2-ECA19C42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52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V5 per-component residual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9BF89-6048-432A-A708-D8378F19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B514F-215A-428C-8CFF-74B62FA8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716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E2195-6DD9-40D7-90F0-4007190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71650"/>
            <a:ext cx="170634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B308C-B795-4A6B-A94B-0A1D145A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430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14.707 kW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29278-D0DD-48B8-B305-573AB4D7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33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939DF-E149-4000-BB68-0900BA34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7716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3BAD5-7FC8-4FFC-9E89-0DEFEF93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771650"/>
            <a:ext cx="24005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85E55-BD23-4197-B214-A61F55FD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430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2.069 kW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729B1-93FE-49FC-8FE7-0FA1FC9B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F0AFA-3B31-489C-916B-AD297A64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384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9D43D-7DBC-447F-BC70-5B712504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38400"/>
            <a:ext cx="46385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431F4-FA5F-44B1-A151-E87F1150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98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3.998 kW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FCC73-560A-4A72-B727-D2C050A7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03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DE5CF-A5E0-48A8-9FAA-BC599059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384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B8E3D-D78D-4C5A-BF2B-EE9A3916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38400"/>
            <a:ext cx="2195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F6C86-3974-487F-BE37-9A8C515F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98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1.892 kW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5B5D3-3F6B-4AB2-847F-12C5A0A8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Wind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E1FE3-536E-4B6E-9FE6-4C9370A8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051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A67BD-3C05-4FE8-BCDA-335CB761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05150"/>
            <a:ext cx="9571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218D8-6B12-48F5-A8ED-35D668D4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765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0.825 kW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19A5C-7406-46C0-AC99-99C619D3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67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0A1CC-3A6B-461C-BA9B-AF3E9296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051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61EAC-BBB6-42EC-B757-5A0D7DD7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05150"/>
            <a:ext cx="363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8A40E-0D3C-40E7-9257-4A58643A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765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0.313 kW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9B1F31-8354-4A68-866C-8D6B2B9E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Battery 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3543C4-9571-4143-86CF-6AF578C8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FE677B-4061-4453-A72E-21F71A46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5C52B-CC94-4278-86AE-13F77E7F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433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21.345 kW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F05838-5F1C-49AF-9E13-EC276C43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338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61CEA4-EB4B-4902-8E64-BA975734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7719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A029DC-F1FF-4456-BBB6-E409BD48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771900"/>
            <a:ext cx="15547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220F71-FEBB-49A5-AD1E-624A67EA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4332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1.340 kW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E31427-FCB1-499E-ABCA-331BB1F8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Battery SOC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AC9763-4E8F-4821-BC48-BED90AB8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386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B997B1-2D41-463F-A838-E19AA81E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38650"/>
            <a:ext cx="233332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6D8110-35DE-4544-96F8-7E8D62DC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00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20.111 kW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FBFC63-AD89-455C-88F6-DFD2D1F0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00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15667B-F729-4311-B30F-4AE1FF7B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386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EEF2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83E965-74E2-4695-AF34-2C492B6B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38650"/>
            <a:ext cx="51305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562DA8-413F-4548-8736-E4352FA1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100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4.422 kW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A919D7-B0E1-4FE8-9CA9-DF08B126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9BD7B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BBCF81-951B-499B-9260-DDA45437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FFE227-119C-4214-9F04-E13842A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05000"/>
            <a:ext cx="2838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最大修正来自 Battery Power：21.345 → 1.340 kW，说明 V4 scalar residual 确实存在 Load 误差污染。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C8AF1C-18F3-4D29-9EFC-D9A459E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2C77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C70C08-926D-4DFC-B257-6A3592C6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0DF3FE-5B8A-448E-B560-13B62F16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838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但 V5 Test MAE = 2.120 kW，比 V4 更差；组件可解释性和 aggregate 预测精度进入不同目标。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634C78-5FDA-4C10-A6F6-932F5DEA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164CD0-5427-404E-B843-17F226F8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3E0936-EE3E-4845-875B-FB0C683B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86300"/>
            <a:ext cx="283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设计启发：组件边界要在 architecture 层面处理，不能只靠 residual head 后补。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933554-0BE4-4D8E-8746-D9AF975C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F2F35B-F019-4811-951B-CBEE6E4B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ara/evidence/tables/v5_component_metrics.md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429C21-D43D-4DE3-86F1-F39C53E7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2887276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C93B6-6131-4059-A959-6A25F791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NEGATIVE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635E4-0730-4108-8476-1B6242A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Dead ends 是路线资产：它们限定了后续实验不能再走的方向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BF7C8-42E9-4EE9-B069-14E16007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A5A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6495E-37D5-464B-8CE8-B44139B9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7B4A8-5726-4C28-B4E6-04CD88C0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4171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N06 | Sigmoid gate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门控 residual 造成 theory degradation；identity shortcut 更稳。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9456F-F1A4-4151-8F9A-576BEE90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A5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26410-4BD0-42CF-BA4F-BDA1B83B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4C7E3-7823-4D6D-A9DE-BFB9FFB3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N07 | Component loss 过强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Theory MAE 最好，但 Test MAE +3.6%；component supervision 有非单调最优。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DC702-C9A3-42E6-B20A-EF7FF7CF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2C77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E783B-D713-4686-BCA8-4F4CAE2A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2FAFC-5C32-422C-8B30-14D3DF1D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62100"/>
            <a:ext cx="4171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N12 | Curriculum Phase 3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纯 net_mse fine-tune 没有 validation benefit；两阶段已经饱和。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F87D1-0670-4385-AFF6-011C1238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2C7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7B66D-2877-49AA-95E4-B8008096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2D026-0A79-4917-BF2C-282C75B5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38450"/>
            <a:ext cx="4171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N113 | B1 high-LR net-MSE finetune</a:t>
            </a:r>
          </a:p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预训练权重上纯 net_mse fine-tune 系统性恶化；多任务目标本身像 regularizer。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70A62-8852-46EE-B1B8-9C98FF21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524D4-05F1-44EE-9497-F03DE9FB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235F7-8AD2-4B90-8C3C-FA726E8F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0100"/>
            <a:ext cx="655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汇报时不要把这些写成“失败尝试”列表；它们是方法选择的边界条件：不加 gate、不继续堆强 component loss、不再用 static pure net-MSE finetune 解释机制。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F6E98-D750-4267-9893-4672C33C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6122F-DD9C-467D-A029-2B757998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N06, N07, N12, N113 in ara/trace/exploration_tree.yaml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EE091-C299-4AC3-BFD4-18751F54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6906420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EB4E7-AAD5-46CE-BC1A-669D4BC5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LOAD BOTTLENECK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B011E-07DF-4044-AACD-1611AA6F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Load 不是 DER 物理方程问题，而是行为/时间结构问题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37307-C42D-475B-8976-8A5E64B2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43050"/>
            <a:ext cx="4000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9EBB1-6A53-456B-B0BB-A86BFFD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716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Load / Wind MAE ratio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2643C-14E8-4EFE-BE29-46F5F32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18x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C139C-AAC3-48E6-9F0E-1E1905B9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813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V4: calendar + component loss 后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Load 仍远高于 Wind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1DD2F-624A-40E2-A7AF-8892396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6x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96431-C3C2-4828-A5BD-49DD2F40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V6/V6.1: behavioral module 后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差距收敛但未消失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5A756-9048-4E73-880C-E615529E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C4295-5A5B-448C-999B-7CD0EC2E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3C701-5906-48CD-B671-62DAA2F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361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AFC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01C86-5F03-47B0-AC5A-FECBD1E5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839CF-FCE9-4162-AD10-4CD57AB2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14500"/>
            <a:ext cx="3314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PV/Wind 主要由 weather 驱动；Load 由行为、日历、电价、习惯和组合结构驱动。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D1597-C8A3-49A0-B8E4-C03196A3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361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9BD7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4AE8B-6556-4632-9CA1-2E782DBB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8B2B3-4FBF-4C2A-BB98-3ED41A0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3314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V6 的意义不是把 Load 完全物理化，而是证明“物理方程不足”本身是可验证结论。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DFEBA-B1DC-4B3D-8BDC-E387CD6E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E2BF0-1EAC-4B23-BED6-09DCFAD8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607D1-6009-4E0B-93A2-BD7DB8D9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331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后续架构转向组件 token，也是为了让 Load 与天气驱动组件在表示空间中分离。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BF936-7EE2-4DAB-A293-398A29D7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E0294-C376-464B-84BA-3070A96B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C06; V4/V6/V6.1 observations in ara/logic/claims.md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2B0929-4876-4AC3-A488-142B4005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2621292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43C33-85E2-49A4-AEC8-8B4E7163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MECHANISM: ERROR CANCELLATION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4341B-F486-4AAA-8B4B-C5B0CCF0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C08 解释悖论：aggregate 精度由组件误差的协方差结构主导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C3E33-7BA9-4D2D-878C-796F61B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BA787-0568-4062-8B44-AAD78DD4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478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Var(e_net) = Σ Var(e_i) ± 2Σ Cov(e_i, e_j)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54F96-5452-4FED-9257-6D2A65E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1.95x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AD019-3612-4250-AA1B-6879E688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gru96 component variance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相对 gru64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2F440-CA6F-4E44-9E49-9590FDCF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2.34x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B5120-3226-4F5D-8943-EABDAA64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gru96 covariance cancellation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相对 gru64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C45E4-7091-4FB8-9773-515D8610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57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79.8%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10FA2-8F58-4ABB-AD1F-F558BC2A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38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gru96 cancellation ratio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vs 66.7%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7A7ED-EBF5-488B-BFED-B3CD6C6A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621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9BD7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78CAF-0A4A-4105-99D1-0663B33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621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9570D-D455-4C1C-941F-26AA8DB0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95450"/>
            <a:ext cx="312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PV 与 Battery error 的正相关最关键：在 net = Load - PV - Wind + Batt 中，PV 与 Batt 同向误差会互相抵消。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951D1-D43D-4068-BA87-F04EAF20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AFC8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15041-8F7F-475A-BBB2-D90EBEFD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51CE7-EB85-4C15-BDCB-F1C5B46B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312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因此，一个模型可能组件预测更差，但 aggregate 更好；这不是噪声，而是 shared representation 的结构性效应。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FF9E4-F598-4121-9713-F4348B63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E3691-B447-4115-A540-4EE3F69D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17515-7E5F-4E50-9412-85309D6D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67250"/>
            <a:ext cx="3124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论文叙事应避免“aggregate 更好 = 物理更好”的弱推断。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B5B2E-B98D-4EC9-AC12-EFDB9DA6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A0CEE-ADDA-4D55-93A4-0B291FF3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docs/analysis/c08_variance_decomposition.md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DFDEA-95E1-43F7-8B29-7E3B2F72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17489494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61D97-3CE3-4DFC-8EEE-62F97E8F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GRADIENT ISOLATION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34BF9-81A6-48F8-A577-6F73933E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C09/C10：selective detach 赢 aggregate，因为它切断 shared-encoder cancellation channel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96E68-9C55-4F49-8346-50FC74D0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66850"/>
            <a:ext cx="5905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6739F-0E67-4640-9BF4-B2AFCEE8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38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E17E7-34C4-48E9-99B4-813D59CD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38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MAE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330E7-3CAA-44E8-9752-FDB116AC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383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MAE std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E7733-7428-43DC-A5BA-03297DA3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383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4F146-DF86-4FA3-8740-50F5E897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955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6C235-AE58-4648-9825-9F7AD689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392E1-4545-4E4E-93D2-A697B286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19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2.069e-3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4AC61-327D-4BB3-9856-CAD06B4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193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1.34e-4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746A5-745C-47A3-8B02-4916A72B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19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shared-gradient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3FB4E-61F6-4650-809F-DB414BE1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5AB1A-4005-4E36-83C1-98FBA512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DA4FC-078F-4535-A08C-09A351F6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2.101e-3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61603-A460-47AA-9DF0-A9FBC50E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5.3e-5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9067E-3CDE-4F3E-8DC8-471035EB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76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deeper encoder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46693-F035-460D-87CA-1BF20117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99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3A7F2-C746-4E0D-AC2E-BC760E5D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detach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1DDCE-AA8A-4132-BF0F-F6ADE03B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33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59669"/>
                </a:solidFill>
                <a:latin typeface="Aptos"/>
                <a:ea typeface="Aptos"/>
                <a:cs typeface="Aptos"/>
              </a:rPr>
              <a:t>1.973e-3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C14C3-8CA4-4780-80A5-E1A4552C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59669"/>
                </a:solidFill>
                <a:latin typeface="Aptos"/>
                <a:ea typeface="Aptos"/>
                <a:cs typeface="Aptos"/>
              </a:rPr>
              <a:t>3.7e-5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EF3B8-C841-464A-BAF4-CD754D6D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33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best mean + std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C0908-E578-41F3-9F83-9F5A62A1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9C7B1-BBB2-4DD5-9504-3B858CD6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detach×e3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910E6-D58F-445C-95DE-8DAA1CFE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909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2.065e-3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E8C3CE-3086-4985-ADE3-841D6212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7.5e-5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123F62-90B5-4586-A268-069EC531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90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depth useless when cut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21238-22DF-4ADA-8C2C-4BD5CB41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A5A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7B60A-566A-40CE-AE7E-56B39281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E325C-0EF8-4211-B3EA-27710B4A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2838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机制不是“detach 让所有协方差都变小”。D1/D2/D3 refuted 了早期解释。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02BDB9-7525-4A17-BC45-EC12B474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9BD7B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558F41-7C34-4679-A86A-35ECDF24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3423F5-54AC-4E75-BDDE-5311CB83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2838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幸存机制：detach 关闭 residual head → encoder 的反向通路；更深 encoder 在 detach 下不再带来 cancellation 收益。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D69027-1309-4D24-B670-7DFAACA0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481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D6B45F-713C-4B60-9238-6DFD2EA1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4815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E694F5-829B-40F1-82C7-A7DD031B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0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这为 A1 的架构转向提供理由：不要 hack shared encoder，而是取消共享表示污染源。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E845A-6345-49DA-B318-EF0BBE0D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3BF61D-6D9F-410D-A69B-703A8C63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C09/C10 in ara/logic/claims.md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8C806E-8BD4-48CB-A0B0-02CE32ED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2586741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78675F-DF33-41F9-B35C-B6463CAD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PHASE A: COMPONENT-TOKEN SEPARATION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EFFF5-33EF-4155-BF79-759553BC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A1 架构转向：组件 token 分离本身就是最强物理边界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02572-BA36-4650-BF48-B973658C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B2A2-923F-4CDD-AD1C-A6074ED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5 component</a:t>
            </a:r>
          </a:p>
          <a:p xmlns:a="http://schemas.openxmlformats.org/drawingml/2006/main">
            <a:pPr algn="ctr">
              <a:defRPr sz="12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GRU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98C95-68F7-4570-8F5F-9C35F05D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4787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CB6D8-FFF0-4D82-82F5-4CF84E5C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62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A649A-FBEB-4E81-B59E-BF4028B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192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56311-08A1-4599-B060-21B03730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 weather</a:t>
            </a:r>
          </a:p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MLP 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D1925-50B0-4597-805A-B087D25B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4787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C187A-3FFB-4BB6-92B1-81231EA1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62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D30F-7D27-4442-B1C9-1361A02F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240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68C-58B8-4E0C-9852-7A47CDCB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inverted</a:t>
            </a:r>
          </a:p>
          <a:p xmlns:a="http://schemas.openxmlformats.org/drawingml/2006/main">
            <a:pPr algn="ctr">
              <a:defRPr sz="12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self-attention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463C5-72E0-43A3-8777-F6786824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4787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0D785-ED6C-4F57-83A1-990AEBA3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BC191-B0A6-4BEE-8A28-348674B9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295A7-E96C-4C44-9879-55A2A5D0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shared FFN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+ real-unit balance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62708-310F-44D0-9577-F80F8E0B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1.811e-3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DD21A-CD44-45C9-B389-544EE613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1000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A1 MAE mean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 seeds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ABE88-E03E-47B6-9655-0999656B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2.069e-3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004FA-1C03-4E5F-830C-63378DAB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c23 baseline MAE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 seeds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6F808-72A0-47C4-8C05-B3AE755A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29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-12.5%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27FAD-D022-450C-879A-29D3558F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A1 vs c23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aggregate MAE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60137-5EA9-49F9-A0F6-FC50958F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20x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A0389-2F63-42DD-9514-68CF1916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cross-seed σ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smaller than c23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D71516-4C31-4D53-B8D6-1254EB23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50"/>
            <a:ext cx="2571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88DDE-BEB2-4F96-B0FA-C7829ABA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50"/>
            <a:ext cx="38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59B43-89D1-407C-9FEA-A0E443F4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266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A1 不靠 fixed physics tokens、graph bias、component loss；它只保留了组件表示分离和真实单位 power balance。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C5954-C3B3-4CB0-91D7-C8AC04FD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E0E107-DD17-49FF-BE8D-A0ABDC1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C11; results/physformer_igt_a1_s2025-s2027/metrics.json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078E96-2E68-41CE-8B05-61CEAAA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3308950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C998C-925E-4A08-9DFC-C3680FF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PHASE A ABLATION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344CA-C241-4897-9D20-5EC6EB3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A2-A5 给出清晰负结果：固定物理先验越强，Test 泛化越差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D952D-91CB-44F6-987D-DB0A38D5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9F20F-09C2-4E61-B0B5-B3B2911F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E1B34-77EF-4916-8642-96FA8D63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8 tokens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1ACC9-630A-46AB-9983-123D8527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best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E641A-A658-443F-B637-D446999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09110"/>
            <a:ext cx="7048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024B3-7450-4B96-BB53-AB5AA921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073D6-139D-4DFB-856B-60255E13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435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+ physics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D7413-1962-4D9B-9B91-4A57E9B8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8526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+0.4%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F6F88-1053-4579-9FB4-C6092490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9070"/>
            <a:ext cx="704850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0B554-1732-47D5-A3FE-D99CF745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95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3F9A6-BA6E-4F33-8ECE-E427A05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435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+ twin/constraint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B3DCB-79D6-4A79-86FA-1203C2AA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6522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+1.8%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4BB56-4BA3-4A43-A331-878C5B65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7610"/>
            <a:ext cx="704850" cy="1024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D3302-11D5-44A0-A430-0F78015A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EE1B9-A8DE-476C-83E1-945CE3E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435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+ graph bias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334AB-6E73-4881-99DB-6A1CEA8F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1376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+2.9%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28297-57D8-4AB6-A95C-FF04486A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7048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E5F10-4DF2-4F98-84CF-01F50EF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95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43712-D213-4841-8553-DC822857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435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+ horizon decoder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02975-F9E3-4161-8EF9-0DF4C604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622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+7.5%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DC5271-83C2-4D6E-AD7E-3A448E94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Test MAE degradation vs A1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9A8AF-BBCE-450D-8215-89AFB54D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C8F2D-FB35-444A-86F2-356C46A1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2C77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9C9A9-D507-4E86-9D36-10205249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4A4A2-C730-4A9A-98E3-08A61A81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所有固定 prior 都改善 Val MSE，却系统性恶化 Test MAE。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39129-447A-4237-9382-00CCDBA3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AFC8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32C9B-697D-4F63-AA35-B967DF6E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69EA08-A68F-4B18-B1C5-381E0B7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2647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结论不是“物理没有价值”，而是固定耦合形式无法跨 portfolio 泛化。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FCBC6-FE4C-425E-B9B5-B7E90570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688DE8-AFA6-4501-8F05-A333EACE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4BF5E5-AAC6-4A32-A02D-783A37D3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2647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Phase B 的出发点：用 masked pretraining 学 data-driven coupling，而不是手工加 prior。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7C7A98-4B93-4FFE-AB4D-439334AC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B4754E-7E2B-42A4-A18D-6B2B8344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C12; docs/plans/2026-05-29-pretraining-finetune-phase-b.md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ADB39F-C27A-46E5-A62E-508B635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5121436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21B0C-BF11-4D86-AC80-D84937EC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734D3-6A9D-4804-A180-1B6D2D66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Phase B：MCP 预训练的静态 finetune 路线已被证伪，救援只保留 adaptation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6100F-10F6-42D9-BDBD-2E419FB8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B6080-CD7F-4A85-8971-FC9A6CC2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859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Masked Component</a:t>
            </a:r>
          </a:p>
          <a:p xmlns:a="http://schemas.openxmlformats.org/drawingml/2006/main">
            <a:pPr algn="ctr">
              <a:defRPr sz="112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Pretraining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72EF7-B956-4A75-BD0D-44296FBA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288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00C77-101F-42C6-B99E-7F894FA3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43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CFACD-D35C-4939-90F5-21215FB6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00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1D99E-D5D6-4692-943A-E4F83D18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net-MSE</a:t>
            </a:r>
          </a:p>
          <a:p xmlns:a="http://schemas.openxmlformats.org/drawingml/2006/main">
            <a:pPr algn="ctr">
              <a:defRPr sz="12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Finetune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B0252-FDED-4632-BFE0-7B03FEBE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288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932C6-DC07-4D4D-B395-D388686B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43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AD935-878F-44C3-B06D-4492FC5F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DB289-A7F7-40DC-ABA5-91A69877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050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Static split</a:t>
            </a:r>
          </a:p>
          <a:p xmlns:a="http://schemas.openxmlformats.org/drawingml/2006/main">
            <a:pPr algn="ctr">
              <a:defRPr sz="12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FAILED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6E825-005A-4E8B-A06C-6B2806BC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766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0.001811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45AF2-9A59-485C-A94A-17A58265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A1 gate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3-seed mean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80553-D370-4DD7-9558-29B27AD3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0.001820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55098-06EE-4E7B-AB7B-75E7D04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576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pretrained direct test</a:t>
            </a:r>
          </a:p>
          <a:p xmlns:a="http://schemas.openxmlformats.org/drawingml/2006/main">
            <a:pPr algn="ctr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closer but not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EC855-DC28-414F-974A-8CEA7C5B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0.001839–0.001863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B3518-D72D-427B-AC01-4D86BC4E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original finetune range</a:t>
            </a:r>
          </a:p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all above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A03D1-F5ED-45DD-9326-A398E86F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A5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DD6AA-D3EF-407C-8212-65B6E48D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2A1FD-B60D-4C80-8D5B-C0894F03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2552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N110 先发现 config_to_args 漏传 pretrained_path：原 B1 finetune 实际是 from-scratch。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122BD-85D4-4EDB-BE0C-40B132EC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48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2C77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8EA627-C23C-4726-924D-430C48F7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48150"/>
            <a:ext cx="38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AD934-AB4A-4204-A827-845FF1D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255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修复后 N112 仍显示 E1→E3 Val MSE 单调恶化；N113 将 high-LR pure net-MSE finetune 记录为 dead end。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BD0F86-B0AE-4649-AE0D-3B121DD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628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9D6EF-046D-4D0A-B2A7-8E0A90B0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6"/>
          </a:solidFill>
          <a:ln xmlns:a="http://schemas.openxmlformats.org/drawingml/2006/main" w="0">
            <a:solidFill>
              <a:srgbClr val="6D5D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892763-9FCB-497A-A88C-FFC0C6F8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00650"/>
            <a:ext cx="598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N114 当前保留的不是“继续证明 B1”，而是：scaler repair、低 LR/正则 finetune、5/10/20% target-portfolio few-shot adaptation。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6BB04D-1970-4C58-8797-FACCC6D3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EEAFD3-3749-4717-AC21-1F323CA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O53; N110-N114 in ara/trace/exploration_tree.yaml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F548A9-DC44-493F-B61C-045F8704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6875646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C07AB-E929-42F6-9259-30B917B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REPORTING SPINE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579A2-D2CC-4F8A-A832-DE04D84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汇报落点：把项目写成“证据收缩后的方法论”，不是版本堆叠史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33E1A-0AC3-4A70-AE73-FBFFC683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DA49D-3BBD-4AEE-9D58-199370B0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049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2E025-AAE1-400C-8004-B8BFF678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9BD7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D9098-8CF9-4DDF-A228-0392CB2E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D498F-FE5E-466D-ACF8-67D8DB87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3981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A1 组件 token 分离 + 真实单位 power balance；C08 方差分解；C11/C12 的正负证据组。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840A2-B8D8-4B9C-A432-08583FD7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FF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16E3A-CEE1-478E-A831-400E0A57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降级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2451C-C201-42A0-B8BD-5C8E0C77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428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F2C77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D76DE-44F5-4DE3-A6C4-15602F46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9AD75-4546-42BE-8982-77BCCE36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3981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早期 PhysFormer 物理分支作为 research scaffold，而不是最终最优模型；curriculum 只解释鲁棒性，不解释 Phase1→Phase2 refinement。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AC62E-7C8E-468F-857F-7C9E6C6F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CE80C-A6ED-4AA0-8940-4B7DB657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避免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F75C0-AFE1-405C-9BCC-FD85E771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4286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A5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08E69-3EBD-4669-BD30-8D557608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A6EA-FAF6-48BE-84D8-5FDA433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398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不要宣称固定 physics prior 单调有效；不要用 aggregate 单指标证明物理一致性；不要重复 N06/N07/N12/N113 路线。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5255E-E8EA-4F66-8BF8-31DFDBB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36385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55FEC-DF10-4AE0-9D05-71398BF2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381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696D4-BE76-47DB-9CC7-A104A23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下一轮实验只服务一个问题：A1 的 data-driven coupling 能否在 target portfolio adaptation 上超过 scratch？若不能，Phase B 关闭，论文主线转为 A1 + negative fixed-prior finding。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3CC6C-D7A6-445B-88A2-2D4C4CB6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9550"/>
            <a:ext cx="3638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8DD5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3B368-A6A5-4BA3-B2FD-209E739B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9550"/>
            <a:ext cx="38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71767-C0E0-4E4C-955C-6A083F0F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3333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一句话结论：PhysFormer 的贡献不在“把物理先验越加越多”，而在用实验找到了 VPP 多组件预测中表示边界、误差相关性和泛化之间的真实约束。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6D8BC-7C4B-4E42-A14A-1A38E2D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73F60-B835-4099-917E-AD4891D5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ARA claims C08-C12; Phase B plan/status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3C7C40-46DE-4923-8D89-84DE3693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33412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PhysFormer experiment path</a:t>
            </a:r>
          </a:p>
        </p:txBody>
      </p:sp>
    </p:spTree>
    <p:extLst>
      <p:ext uri="{BB962C8B-B14F-4D97-AF65-F5344CB8AC3E}">
        <p14:creationId xmlns:p14="http://schemas.microsoft.com/office/powerpoint/2010/main" val="938024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2026-06-03T13:00:24.9280000Z</dcterms:created>
  <dcterms:modified xsi:type="dcterms:W3CDTF">2026-06-03T13:00:24.9280000Z</dcterms:modified>
</coreProperties>
</file>